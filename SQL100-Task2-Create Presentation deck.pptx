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4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6316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3" autoAdjust="0"/>
    <p:restoredTop sz="94660"/>
  </p:normalViewPr>
  <p:slideViewPr>
    <p:cSldViewPr snapToGrid="0">
      <p:cViewPr varScale="1">
        <p:scale>
          <a:sx n="87" d="100"/>
          <a:sy n="87" d="100"/>
        </p:scale>
        <p:origin x="76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0F60-1775-4B28-92B2-E2505EF725FB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1F9B-0C89-43DC-95CA-C3CC94E0A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638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0F60-1775-4B28-92B2-E2505EF725FB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1F9B-0C89-43DC-95CA-C3CC94E0A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358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0F60-1775-4B28-92B2-E2505EF725FB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1F9B-0C89-43DC-95CA-C3CC94E0A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79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0F60-1775-4B28-92B2-E2505EF725FB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1F9B-0C89-43DC-95CA-C3CC94E0A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509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0F60-1775-4B28-92B2-E2505EF725FB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1F9B-0C89-43DC-95CA-C3CC94E0A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0F60-1775-4B28-92B2-E2505EF725FB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1F9B-0C89-43DC-95CA-C3CC94E0A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63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0F60-1775-4B28-92B2-E2505EF725FB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1F9B-0C89-43DC-95CA-C3CC94E0A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740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0F60-1775-4B28-92B2-E2505EF725FB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1F9B-0C89-43DC-95CA-C3CC94E0A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9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0F60-1775-4B28-92B2-E2505EF725FB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1F9B-0C89-43DC-95CA-C3CC94E0A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67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0F60-1775-4B28-92B2-E2505EF725FB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1F9B-0C89-43DC-95CA-C3CC94E0A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373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0F60-1775-4B28-92B2-E2505EF725FB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1F9B-0C89-43DC-95CA-C3CC94E0A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318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0F60-1775-4B28-92B2-E2505EF725FB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1F9B-0C89-43DC-95CA-C3CC94E0A29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30083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0F60-1775-4B28-92B2-E2505EF725FB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1F9B-0C89-43DC-95CA-C3CC94E0A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610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0F60-1775-4B28-92B2-E2505EF725FB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1F9B-0C89-43DC-95CA-C3CC94E0A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167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0F60-1775-4B28-92B2-E2505EF725FB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1F9B-0C89-43DC-95CA-C3CC94E0A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01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0F60-1775-4B28-92B2-E2505EF725FB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1F9B-0C89-43DC-95CA-C3CC94E0A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277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0F60-1775-4B28-92B2-E2505EF725FB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51F9B-0C89-43DC-95CA-C3CC94E0A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888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C140F60-1775-4B28-92B2-E2505EF725FB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51F9B-0C89-43DC-95CA-C3CC94E0A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710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  <p:sldLayoutId id="2147483967" r:id="rId13"/>
    <p:sldLayoutId id="2147483968" r:id="rId14"/>
    <p:sldLayoutId id="2147483969" r:id="rId15"/>
    <p:sldLayoutId id="2147483970" r:id="rId16"/>
    <p:sldLayoutId id="214748397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CF61C4-4024-85EF-D530-CC88A4D72D06}"/>
              </a:ext>
            </a:extLst>
          </p:cNvPr>
          <p:cNvSpPr/>
          <p:nvPr/>
        </p:nvSpPr>
        <p:spPr>
          <a:xfrm>
            <a:off x="694944" y="614477"/>
            <a:ext cx="10802112" cy="57351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1C10B6-75F4-CE9A-EC8D-7851C62AE015}"/>
              </a:ext>
            </a:extLst>
          </p:cNvPr>
          <p:cNvSpPr/>
          <p:nvPr/>
        </p:nvSpPr>
        <p:spPr>
          <a:xfrm>
            <a:off x="972922" y="614477"/>
            <a:ext cx="10402214" cy="549371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6ED848-5B62-0AEE-7D71-BCE7073A8B06}"/>
              </a:ext>
            </a:extLst>
          </p:cNvPr>
          <p:cNvSpPr/>
          <p:nvPr/>
        </p:nvSpPr>
        <p:spPr>
          <a:xfrm>
            <a:off x="519379" y="614478"/>
            <a:ext cx="11153243" cy="8156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>
              <a:defRPr sz="2200">
                <a:solidFill>
                  <a:srgbClr val="FF6600"/>
                </a:solidFill>
              </a:defRPr>
            </a:pPr>
            <a:r>
              <a:rPr lang="en-US" sz="2400" dirty="0">
                <a:solidFill>
                  <a:schemeClr val="accent2"/>
                </a:solidFill>
                <a:latin typeface="Algerian" panose="04020705040A02060702" pitchFamily="82" charset="0"/>
              </a:rPr>
              <a:t>Improving Performance, Availability, and Reliability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F725A73-A9A6-BFCA-5DD8-DCB6AF3040E6}"/>
              </a:ext>
            </a:extLst>
          </p:cNvPr>
          <p:cNvSpPr/>
          <p:nvPr/>
        </p:nvSpPr>
        <p:spPr>
          <a:xfrm>
            <a:off x="577900" y="1792225"/>
            <a:ext cx="7139635" cy="2472537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Database</a:t>
            </a:r>
            <a:endParaRPr lang="en-US" sz="5400" dirty="0"/>
          </a:p>
          <a:p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Replication: 3 → 10</a:t>
            </a:r>
            <a:endParaRPr lang="en-US" sz="5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97BAAE-5585-B1D1-00E7-60FA82D0FC4E}"/>
              </a:ext>
            </a:extLst>
          </p:cNvPr>
          <p:cNvSpPr/>
          <p:nvPr/>
        </p:nvSpPr>
        <p:spPr>
          <a:xfrm>
            <a:off x="-314555" y="4899356"/>
            <a:ext cx="10802112" cy="8156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2"/>
                </a:solidFill>
                <a:latin typeface="Algerian" panose="04020705040A02060702" pitchFamily="82" charset="0"/>
              </a:rPr>
              <a:t>Improve the latency from 20 </a:t>
            </a:r>
            <a:r>
              <a:rPr lang="en-US" sz="2400" dirty="0" err="1">
                <a:solidFill>
                  <a:schemeClr val="accent2"/>
                </a:solidFill>
                <a:latin typeface="Algerian" panose="04020705040A02060702" pitchFamily="82" charset="0"/>
              </a:rPr>
              <a:t>mili</a:t>
            </a:r>
            <a:r>
              <a:rPr lang="en-US" sz="2400" dirty="0">
                <a:solidFill>
                  <a:schemeClr val="accent2"/>
                </a:solidFill>
                <a:latin typeface="Algerian" panose="04020705040A02060702" pitchFamily="82" charset="0"/>
              </a:rPr>
              <a:t> seconds to 1 </a:t>
            </a:r>
            <a:r>
              <a:rPr lang="en-US" sz="2400" dirty="0" err="1">
                <a:solidFill>
                  <a:schemeClr val="accent2"/>
                </a:solidFill>
                <a:latin typeface="Algerian" panose="04020705040A02060702" pitchFamily="82" charset="0"/>
              </a:rPr>
              <a:t>mili</a:t>
            </a:r>
            <a:r>
              <a:rPr lang="en-US" sz="2400" dirty="0">
                <a:solidFill>
                  <a:schemeClr val="accent2"/>
                </a:solidFill>
                <a:latin typeface="Algerian" panose="04020705040A02060702" pitchFamily="82" charset="0"/>
              </a:rPr>
              <a:t> seconds</a:t>
            </a:r>
          </a:p>
        </p:txBody>
      </p:sp>
    </p:spTree>
    <p:extLst>
      <p:ext uri="{BB962C8B-B14F-4D97-AF65-F5344CB8AC3E}">
        <p14:creationId xmlns:p14="http://schemas.microsoft.com/office/powerpoint/2010/main" val="2722109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00D5C7-DEC8-C96F-55F9-12967FBDE9BC}"/>
              </a:ext>
            </a:extLst>
          </p:cNvPr>
          <p:cNvSpPr/>
          <p:nvPr/>
        </p:nvSpPr>
        <p:spPr>
          <a:xfrm>
            <a:off x="694944" y="828446"/>
            <a:ext cx="4330598" cy="5201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v"/>
              <a:defRPr sz="2400"/>
            </a:pPr>
            <a:endParaRPr lang="en-US" dirty="0">
              <a:solidFill>
                <a:schemeClr val="bg1"/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  <a:defRPr sz="2400"/>
            </a:pPr>
            <a:endParaRPr lang="en-US" dirty="0">
              <a:solidFill>
                <a:schemeClr val="bg1"/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  <a:defRPr sz="2400"/>
            </a:pPr>
            <a:r>
              <a:rPr lang="en-US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Currently using only 3 database replicas.</a:t>
            </a:r>
          </a:p>
          <a:p>
            <a:pPr>
              <a:defRPr sz="2400"/>
            </a:pPr>
            <a:endParaRPr lang="en-US" sz="1600" dirty="0">
              <a:solidFill>
                <a:schemeClr val="bg1"/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  <a:defRPr sz="2400"/>
            </a:pPr>
            <a:r>
              <a:rPr lang="en-US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Average latency: 20 milliseconds.</a:t>
            </a:r>
          </a:p>
          <a:p>
            <a:pPr>
              <a:defRPr sz="2400"/>
            </a:pPr>
            <a:endParaRPr lang="en-US" sz="1600" dirty="0">
              <a:solidFill>
                <a:schemeClr val="bg1"/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  <a:defRPr sz="2400"/>
            </a:pPr>
            <a:r>
              <a:rPr lang="en-US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High load on limited replica servers.</a:t>
            </a:r>
          </a:p>
          <a:p>
            <a:pPr>
              <a:defRPr sz="2400"/>
            </a:pPr>
            <a:endParaRPr lang="en-US" sz="1600" dirty="0">
              <a:solidFill>
                <a:schemeClr val="bg1"/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  <a:defRPr sz="2400"/>
            </a:pPr>
            <a:r>
              <a:rPr lang="en-US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Risk of downtime if replicas fail.</a:t>
            </a:r>
          </a:p>
          <a:p>
            <a:pPr>
              <a:defRPr sz="2400"/>
            </a:pPr>
            <a:endParaRPr lang="en-US" sz="1600" dirty="0">
              <a:solidFill>
                <a:schemeClr val="bg1"/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  <a:defRPr sz="2400"/>
            </a:pPr>
            <a:r>
              <a:rPr lang="en-US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Limited scalability for future growth.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56337C-209D-F7F8-10E5-979C59A6EE2A}"/>
              </a:ext>
            </a:extLst>
          </p:cNvPr>
          <p:cNvSpPr/>
          <p:nvPr/>
        </p:nvSpPr>
        <p:spPr>
          <a:xfrm>
            <a:off x="6831177" y="828445"/>
            <a:ext cx="4330598" cy="5201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/>
            </a:pPr>
            <a:endParaRPr lang="en-US" sz="2400" dirty="0">
              <a:solidFill>
                <a:schemeClr val="bg1"/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>
              <a:defRPr sz="2400"/>
            </a:pPr>
            <a:endParaRPr lang="en-US" sz="2400" dirty="0">
              <a:solidFill>
                <a:schemeClr val="bg1"/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  <a:defRPr sz="2400"/>
            </a:pPr>
            <a:r>
              <a:rPr lang="en-US" sz="24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Increase replicas from 3 to 10.</a:t>
            </a:r>
          </a:p>
          <a:p>
            <a:pPr>
              <a:defRPr sz="2400"/>
            </a:pPr>
            <a:endParaRPr lang="en-US" sz="1600" dirty="0">
              <a:solidFill>
                <a:schemeClr val="bg1"/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  <a:defRPr sz="2400"/>
            </a:pPr>
            <a:r>
              <a:rPr lang="en-US" sz="24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Reduce latency from 20 </a:t>
            </a:r>
            <a:r>
              <a:rPr lang="en-US" sz="2400" dirty="0" err="1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ms</a:t>
            </a:r>
            <a:r>
              <a:rPr lang="en-US" sz="24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to 1 </a:t>
            </a:r>
            <a:r>
              <a:rPr lang="en-US" sz="2400" dirty="0" err="1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ms.</a:t>
            </a:r>
            <a:endParaRPr lang="en-US" sz="2400" dirty="0">
              <a:solidFill>
                <a:schemeClr val="bg1"/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>
              <a:defRPr sz="2400"/>
            </a:pPr>
            <a:endParaRPr lang="en-US" sz="1600" dirty="0">
              <a:solidFill>
                <a:schemeClr val="bg1"/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  <a:defRPr sz="2400"/>
            </a:pPr>
            <a:r>
              <a:rPr lang="en-US" sz="24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Faster query performance.</a:t>
            </a:r>
          </a:p>
          <a:p>
            <a:pPr>
              <a:defRPr sz="2400"/>
            </a:pPr>
            <a:endParaRPr lang="en-US" sz="1600" dirty="0">
              <a:solidFill>
                <a:schemeClr val="bg1"/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  <a:defRPr sz="2400"/>
            </a:pPr>
            <a:r>
              <a:rPr lang="en-US" sz="24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Higher availability and fault tolerance.</a:t>
            </a:r>
          </a:p>
          <a:p>
            <a:pPr>
              <a:defRPr sz="2400"/>
            </a:pPr>
            <a:endParaRPr lang="en-US" sz="1600" dirty="0">
              <a:solidFill>
                <a:schemeClr val="bg1"/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  <a:defRPr sz="2400"/>
            </a:pPr>
            <a:r>
              <a:rPr lang="en-US" sz="24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Better load distribution.</a:t>
            </a:r>
          </a:p>
          <a:p>
            <a:pPr>
              <a:defRPr sz="2400"/>
            </a:pPr>
            <a:endParaRPr lang="en-US" sz="1600" dirty="0">
              <a:solidFill>
                <a:schemeClr val="bg1"/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  <a:defRPr sz="2400"/>
            </a:pPr>
            <a:r>
              <a:rPr lang="en-US" sz="24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Improved user experience.</a:t>
            </a:r>
          </a:p>
          <a:p>
            <a:pPr algn="ctr"/>
            <a:endParaRPr lang="en-US" sz="2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B47A265-3B34-197E-A16E-CCD7E7425A7E}"/>
              </a:ext>
            </a:extLst>
          </p:cNvPr>
          <p:cNvSpPr/>
          <p:nvPr/>
        </p:nvSpPr>
        <p:spPr>
          <a:xfrm>
            <a:off x="1353312" y="1170432"/>
            <a:ext cx="2889504" cy="4315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</a:rPr>
              <a:t>Current Challenges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6D3A860-CC82-85E9-8F01-F1B9D0017EA8}"/>
              </a:ext>
            </a:extLst>
          </p:cNvPr>
          <p:cNvSpPr/>
          <p:nvPr/>
        </p:nvSpPr>
        <p:spPr>
          <a:xfrm>
            <a:off x="7486497" y="1170432"/>
            <a:ext cx="3429610" cy="4315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highlight>
                <a:srgbClr val="00FFFF"/>
              </a:highlight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highlight>
                  <a:srgbClr val="00FFFF"/>
                </a:highlight>
              </a:rPr>
              <a:t>Proposed Solution &amp; Benefits</a:t>
            </a:r>
          </a:p>
          <a:p>
            <a:pPr algn="ctr"/>
            <a:endParaRPr lang="en-US" dirty="0">
              <a:solidFill>
                <a:schemeClr val="bg1"/>
              </a:solidFill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45199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221D797-F9A8-E004-41EF-21969D7EE8A0}"/>
              </a:ext>
            </a:extLst>
          </p:cNvPr>
          <p:cNvSpPr/>
          <p:nvPr/>
        </p:nvSpPr>
        <p:spPr>
          <a:xfrm>
            <a:off x="694944" y="453543"/>
            <a:ext cx="9741408" cy="8851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bg1"/>
                </a:solidFill>
              </a:rPr>
              <a:t>Risks and Cost Considerations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0A74EF-B56A-9DF0-39EA-7C3119D75F95}"/>
              </a:ext>
            </a:extLst>
          </p:cNvPr>
          <p:cNvSpPr/>
          <p:nvPr/>
        </p:nvSpPr>
        <p:spPr>
          <a:xfrm>
            <a:off x="1185062" y="2121408"/>
            <a:ext cx="8975751" cy="394289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  <a:defRPr sz="2400"/>
            </a:pPr>
            <a:r>
              <a:rPr lang="en-US" dirty="0"/>
              <a:t>Increased infrastructure cost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400"/>
            </a:pPr>
            <a:r>
              <a:rPr lang="en-US" dirty="0"/>
              <a:t>Higher maintenance and monitoring effort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400"/>
            </a:pPr>
            <a:r>
              <a:rPr lang="en-US" dirty="0"/>
              <a:t>More complex replication management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400"/>
            </a:pPr>
            <a:r>
              <a:rPr lang="en-US" dirty="0"/>
              <a:t>Network bandwidth usage increase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400"/>
            </a:pPr>
            <a:r>
              <a:rPr lang="en-US" dirty="0"/>
              <a:t>Mitigation: automation, monitoring tools, cloud scaling</a:t>
            </a:r>
          </a:p>
        </p:txBody>
      </p:sp>
    </p:spTree>
    <p:extLst>
      <p:ext uri="{BB962C8B-B14F-4D97-AF65-F5344CB8AC3E}">
        <p14:creationId xmlns:p14="http://schemas.microsoft.com/office/powerpoint/2010/main" val="1804279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12487D-CF80-3263-80E2-F12FB7BDB241}"/>
              </a:ext>
            </a:extLst>
          </p:cNvPr>
          <p:cNvSpPr/>
          <p:nvPr/>
        </p:nvSpPr>
        <p:spPr>
          <a:xfrm>
            <a:off x="760781" y="277978"/>
            <a:ext cx="9692640" cy="8558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Final Recommendation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578BAE-D896-2F07-2198-69D92CED745F}"/>
              </a:ext>
            </a:extLst>
          </p:cNvPr>
          <p:cNvSpPr/>
          <p:nvPr/>
        </p:nvSpPr>
        <p:spPr>
          <a:xfrm>
            <a:off x="1104595" y="1923898"/>
            <a:ext cx="9173261" cy="41184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sz="2400" dirty="0"/>
              <a:t>Benefits:</a:t>
            </a:r>
          </a:p>
          <a:p>
            <a:endParaRPr lang="en-US" sz="2400" dirty="0"/>
          </a:p>
          <a:p>
            <a:r>
              <a:rPr lang="en-US" sz="2400" dirty="0"/>
              <a:t>• Reduce latency from 20 </a:t>
            </a:r>
            <a:r>
              <a:rPr lang="en-US" sz="2400" dirty="0" err="1"/>
              <a:t>ms</a:t>
            </a:r>
            <a:r>
              <a:rPr lang="en-US" sz="2400" dirty="0"/>
              <a:t> to 1 </a:t>
            </a:r>
            <a:r>
              <a:rPr lang="en-US" sz="2400" dirty="0" err="1"/>
              <a:t>ms</a:t>
            </a:r>
            <a:endParaRPr lang="en-US" sz="2400" dirty="0"/>
          </a:p>
          <a:p>
            <a:r>
              <a:rPr lang="en-US" sz="2400" dirty="0"/>
              <a:t>• Improve system performance and speed</a:t>
            </a:r>
          </a:p>
          <a:p>
            <a:r>
              <a:rPr lang="en-US" sz="2400" dirty="0"/>
              <a:t>• Ensure high availability</a:t>
            </a:r>
          </a:p>
          <a:p>
            <a:r>
              <a:rPr lang="en-US" sz="2400" dirty="0"/>
              <a:t>• Support future growth</a:t>
            </a:r>
          </a:p>
          <a:p>
            <a:endParaRPr lang="en-US" sz="2400" dirty="0"/>
          </a:p>
          <a:p>
            <a:r>
              <a:rPr lang="en-US" sz="2400" dirty="0"/>
              <a:t>Conclusion:</a:t>
            </a:r>
          </a:p>
          <a:p>
            <a:endParaRPr lang="en-US" sz="2400" dirty="0"/>
          </a:p>
          <a:p>
            <a:r>
              <a:rPr lang="en-US" sz="2400" dirty="0"/>
              <a:t>Increasing replicas is a strategic investment for better performance and reliability.</a:t>
            </a:r>
          </a:p>
        </p:txBody>
      </p:sp>
    </p:spTree>
    <p:extLst>
      <p:ext uri="{BB962C8B-B14F-4D97-AF65-F5344CB8AC3E}">
        <p14:creationId xmlns:p14="http://schemas.microsoft.com/office/powerpoint/2010/main" val="3176512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125</TotalTime>
  <Words>168</Words>
  <Application>Microsoft Office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Algerian</vt:lpstr>
      <vt:lpstr>Aparajita</vt:lpstr>
      <vt:lpstr>Arial</vt:lpstr>
      <vt:lpstr>Calibri</vt:lpstr>
      <vt:lpstr>Century Gothic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 Singh</dc:creator>
  <cp:lastModifiedBy>Ayush Singh</cp:lastModifiedBy>
  <cp:revision>1</cp:revision>
  <dcterms:created xsi:type="dcterms:W3CDTF">2026-02-28T15:09:27Z</dcterms:created>
  <dcterms:modified xsi:type="dcterms:W3CDTF">2026-02-28T17:14:52Z</dcterms:modified>
</cp:coreProperties>
</file>